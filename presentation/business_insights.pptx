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c98df3a69c47e8" /><Relationship Type="http://schemas.openxmlformats.org/officeDocument/2006/relationships/extended-properties" Target="/docProps/app.xml" Id="Rd1d06dfa18734e0e" /><Relationship Type="http://schemas.openxmlformats.org/officeDocument/2006/relationships/officeDocument" Target="/ppt/presentation.xml" Id="Rf896e930763a4c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273248d12649fc"/>
  </p:sldMasterIdLst>
  <p:notesMasterIdLst>
    <p:notesMasterId xmlns:r="http://schemas.openxmlformats.org/officeDocument/2006/relationships" r:id="Rca7c6c9648234eed"/>
  </p:notesMasterIdLst>
  <p:sldIdLst>
    <p:sldId xmlns:r="http://schemas.openxmlformats.org/officeDocument/2006/relationships" id="256" r:id="R403da69d0d694dc5"/>
    <p:sldId xmlns:r="http://schemas.openxmlformats.org/officeDocument/2006/relationships" id="257" r:id="R0e61c4aba3754433"/>
    <p:sldId xmlns:r="http://schemas.openxmlformats.org/officeDocument/2006/relationships" id="258" r:id="R470018877704481b"/>
    <p:sldId xmlns:r="http://schemas.openxmlformats.org/officeDocument/2006/relationships" id="259" r:id="Rbe513d18826349bd"/>
    <p:sldId xmlns:r="http://schemas.openxmlformats.org/officeDocument/2006/relationships" id="260" r:id="R1bea308798b44926"/>
    <p:sldId xmlns:r="http://schemas.openxmlformats.org/officeDocument/2006/relationships" id="261" r:id="R73a923fc50274c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be81069afb48a4" /><Relationship Type="http://schemas.openxmlformats.org/officeDocument/2006/relationships/slideMaster" Target="/ppt/slideMasters/slideMaster1.xml" Id="Rc5273248d12649fc" /><Relationship Type="http://schemas.openxmlformats.org/officeDocument/2006/relationships/notesMaster" Target="/ppt/notesMasters/notesMaster1.xml" Id="Rca7c6c9648234eed" /><Relationship Type="http://schemas.openxmlformats.org/officeDocument/2006/relationships/presProps" Target="/ppt/presProps.xml" Id="R2efda1586d504f40" /><Relationship Type="http://schemas.openxmlformats.org/officeDocument/2006/relationships/tableStyles" Target="/ppt/tableStyles.xml" Id="Re1a86d2d4b994b8f" /><Relationship Type="http://schemas.openxmlformats.org/officeDocument/2006/relationships/slide" Target="/ppt/slides/slide1.xml" Id="R403da69d0d694dc5" /><Relationship Type="http://schemas.openxmlformats.org/officeDocument/2006/relationships/slide" Target="/ppt/slides/slide2.xml" Id="R0e61c4aba3754433" /><Relationship Type="http://schemas.openxmlformats.org/officeDocument/2006/relationships/slide" Target="/ppt/slides/slide3.xml" Id="R470018877704481b" /><Relationship Type="http://schemas.openxmlformats.org/officeDocument/2006/relationships/slide" Target="/ppt/slides/slide4.xml" Id="Rbe513d18826349bd" /><Relationship Type="http://schemas.openxmlformats.org/officeDocument/2006/relationships/slide" Target="/ppt/slides/slide5.xml" Id="R1bea308798b44926" /><Relationship Type="http://schemas.openxmlformats.org/officeDocument/2006/relationships/slide" Target="/ppt/slides/slide6.xml" Id="R73a923fc50274c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c884e9bea44f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0817e9e3804d2b" /><Relationship Type="http://schemas.openxmlformats.org/officeDocument/2006/relationships/notesMaster" Target="/ppt/notesMasters/notesMaster1.xml" Id="R476f033f45c34e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5d7428b33b4c27" /><Relationship Type="http://schemas.openxmlformats.org/officeDocument/2006/relationships/notesMaster" Target="/ppt/notesMasters/notesMaster1.xml" Id="Rc5f82cf19fee42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75232307284fa3" /><Relationship Type="http://schemas.openxmlformats.org/officeDocument/2006/relationships/notesMaster" Target="/ppt/notesMasters/notesMaster1.xml" Id="Ra54e0dd847174b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98fd16bbdf414c" /><Relationship Type="http://schemas.openxmlformats.org/officeDocument/2006/relationships/notesMaster" Target="/ppt/notesMasters/notesMaster1.xml" Id="R9ea21b2be44241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127e9a50f14cb1" /><Relationship Type="http://schemas.openxmlformats.org/officeDocument/2006/relationships/notesMaster" Target="/ppt/notesMasters/notesMaster1.xml" Id="R22176a71928e4c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622cd7315446da" /><Relationship Type="http://schemas.openxmlformats.org/officeDocument/2006/relationships/notesMaster" Target="/ppt/notesMasters/notesMaster1.xml" Id="R34425dbe251642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question and assessment scope follow Use Case 28 Software Quality Insight in CH28.pdf, supplied by the user.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public dataset is the SmartSHARK release-level replication package: https://zenodo.org/records/5675024. Study methods and data-collection limitations: https://link.springer.com/article/10.1007/s10664-021-10092-4.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and archive metadata: https://zenodo.org/records/5675024. The archive contains prepared release-level data; this project extracts the Apache Calcite subset.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MOSER metrics distinguish LOC added, LOC deleted, and signed code churn. SmartSHARK metric implementation: https://smartshark.github.io/mynbou/_modules/metrics/change.html.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data-collection study documents labeling limitations: https://link.springer.com/article/10.1007/s10664-021-10092-4.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Prepared-data module and component aggregates computed from the Calcite subset. Component is derived from the first package directory under org/apache/calcite.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Defect labels total 2,138. Severity issue IDs were deduplicated within each file-release and reconcile to the prepared defect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https://zenodo.org/records/5675024. Study on defect-label collection limitations: https://link.springer.com/article/10.1007/s10664-021-10092-4.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Spearman rank coefficients were calculated from the 19,751 module-release rows in the SmartSHARK Apache Calcite subset.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WMC and CBO are selected static metrics. Change volume is summed MOSER lines added plus lines deleted. Revisions and authors are file-level process measures.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descriptive correlations are not adjusted for file size, repeated-file dependence, or release effects. They do not establish causality.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https://zenodo.org/records/5675024. MOSER metric definition: https://smartshark.github.io/mynbou/_modules/metrics/change.html.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Release-level defect counts divided by summed file LOC per release, multiplied by 1,000. Values: 1.004 for 1.0.0 and 0.196 for 1.15.0.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Release calendar dates were not present in the selected data; versions are plotted in semantic order. Row counts and file exposure change across releases.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https://zenodo.org/records/5675024.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Recommendations are grounded in repeated module defect counts and descriptive metric associations from the selected Calcite subset.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original assignment emphasizes evidence-based code-review and testing priorities. The public dataset does not contain coverage or calendar release 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Dataset and collection-method references: https://zenodo.org/records/5675024 and https://link.springer.com/article/10.1007/s10664-021-10092-4.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b3a4735cba49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7a9846dffd40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2d2f2d715c41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5d3bfb534643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b3d2bd20944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3da834952140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A6A18C-3A0F-4441-B7C6-0B46B09794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3C6590-0AF5-4816-9A64-C9FAE8AE79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A793D62-4474-42B3-B42C-5B3CBA12A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3DC6BD-CEA9-4309-A262-19DC4443B3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DF867B1-F397-4E1D-96A7-1920CAE178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7B4F9A1-D087-4DD9-B680-2CAA90983E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4072E0-A1A9-42BD-B13A-CC0DB64D8E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1CFCAE4-D970-48E5-A24F-3384AAD32F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F76B3E-9B31-48D2-9BF3-AA5AAC240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66DE4F-6E6D-4332-8D85-6F8086E92B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458b1c7e714f30" /><Relationship Type="http://schemas.openxmlformats.org/officeDocument/2006/relationships/slideLayout" Target="/ppt/slideLayouts/slideLayout1.xml" Id="R123f368c83cb4fd2" /><Relationship Type="http://schemas.openxmlformats.org/officeDocument/2006/relationships/slideLayout" Target="/ppt/slideLayouts/slideLayout2.xml" Id="R98c5566e18824697" /><Relationship Type="http://schemas.openxmlformats.org/officeDocument/2006/relationships/slideLayout" Target="/ppt/slideLayouts/slideLayout3.xml" Id="R2878965e01924bdf" /><Relationship Type="http://schemas.openxmlformats.org/officeDocument/2006/relationships/slideLayout" Target="/ppt/slideLayouts/slideLayout4.xml" Id="Rfbd74a50720a4a10" /><Relationship Type="http://schemas.openxmlformats.org/officeDocument/2006/relationships/slideLayout" Target="/ppt/slideLayouts/slideLayout5.xml" Id="Rdd54e092b0d14f6c" /><Relationship Type="http://schemas.openxmlformats.org/officeDocument/2006/relationships/slideLayout" Target="/ppt/slideLayouts/slideLayout6.xml" Id="Ra1b39c09fc3f43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3f368c83cb4fd2"/>
    <p:sldLayoutId xmlns:r="http://schemas.openxmlformats.org/officeDocument/2006/relationships" id="2147483650" r:id="R98c5566e18824697"/>
    <p:sldLayoutId xmlns:r="http://schemas.openxmlformats.org/officeDocument/2006/relationships" id="2147483651" r:id="R2878965e01924bdf"/>
    <p:sldLayoutId xmlns:r="http://schemas.openxmlformats.org/officeDocument/2006/relationships" id="2147483652" r:id="Rfbd74a50720a4a10"/>
    <p:sldLayoutId xmlns:r="http://schemas.openxmlformats.org/officeDocument/2006/relationships" id="2147483653" r:id="Rdd54e092b0d14f6c"/>
    <p:sldLayoutId xmlns:r="http://schemas.openxmlformats.org/officeDocument/2006/relationships" id="2147483654" r:id="Ra1b39c09fc3f43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3c0f7b8dd24f6f" /><Relationship Type="http://schemas.openxmlformats.org/officeDocument/2006/relationships/notesSlide" Target="/ppt/notesSlides/notesSlide1.xml" Id="R2ccf8caf51c442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895b5652264aec" /><Relationship Type="http://schemas.openxmlformats.org/officeDocument/2006/relationships/notesSlide" Target="/ppt/notesSlides/notesSlide2.xml" Id="Rad6bcc9fa6da4f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73e5f1d6354f30" /><Relationship Type="http://schemas.openxmlformats.org/officeDocument/2006/relationships/chart" Target="/ppt/slides/charts/chart1.xml" Id="R7d139c2a14b442ed" /><Relationship Type="http://schemas.openxmlformats.org/officeDocument/2006/relationships/notesSlide" Target="/ppt/notesSlides/notesSlide3.xml" Id="Rd6a63c308ec447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64d9f3dc464cfb" /><Relationship Type="http://schemas.openxmlformats.org/officeDocument/2006/relationships/chart" Target="/ppt/slides/charts/chart2.xml" Id="R42562f59d6804be7" /><Relationship Type="http://schemas.openxmlformats.org/officeDocument/2006/relationships/notesSlide" Target="/ppt/notesSlides/notesSlide4.xml" Id="R2c100625cb1342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7825af60d249b5" /><Relationship Type="http://schemas.openxmlformats.org/officeDocument/2006/relationships/chart" Target="/ppt/slides/charts/chart3.xml" Id="R40404290f0884a05" /><Relationship Type="http://schemas.openxmlformats.org/officeDocument/2006/relationships/notesSlide" Target="/ppt/notesSlides/notesSlide5.xml" Id="R3d3471e3c2c34c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d6d83973434a75" /><Relationship Type="http://schemas.openxmlformats.org/officeDocument/2006/relationships/notesSlide" Target="/ppt/notesSlides/notesSlide6.xml" Id="R5413096d6d26494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Arial"/>
                <a:ea typeface="Arial"/>
                <a:cs typeface="Arial"/>
              </a:rPr>
              <a:t>Defect labels by package component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Defects</c:v>
          </c:tx>
          <c:spPr>
            <a:solidFill xmlns:a="http://schemas.openxmlformats.org/drawingml/2006/main">
              <a:srgbClr val="1F6F78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sql</c:v>
                </c:pt>
                <c:pt idx="1">
                  <c:v>rel</c:v>
                </c:pt>
                <c:pt idx="2">
                  <c:v>adapter</c:v>
                </c:pt>
                <c:pt idx="3">
                  <c:v>sql2rel</c:v>
                </c:pt>
                <c:pt idx="4">
                  <c:v>plan</c:v>
                </c:pt>
                <c:pt idx="5">
                  <c:v>avatica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571</c:v>
                </c:pt>
                <c:pt idx="1">
                  <c:v>465</c:v>
                </c:pt>
                <c:pt idx="2">
                  <c:v>373</c:v>
                </c:pt>
                <c:pt idx="3">
                  <c:v>131</c:v>
                </c:pt>
                <c:pt idx="4">
                  <c:v>129</c:v>
                </c:pt>
                <c:pt idx="5">
                  <c:v>82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2B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Arial"/>
                <a:ea typeface="Arial"/>
                <a:cs typeface="Arial"/>
              </a:rPr>
              <a:t>Rank association with defect count (Spearman rho × 1,000)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Spearman rho × 1,000</c:v>
          </c:tx>
          <c:spPr>
            <a:solidFill xmlns:a="http://schemas.openxmlformats.org/drawingml/2006/main">
              <a:srgbClr val="2878A8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File size</c:v>
                </c:pt>
                <c:pt idx="1">
                  <c:v>CBO coupling</c:v>
                </c:pt>
                <c:pt idx="2">
                  <c:v>WMC complexity</c:v>
                </c:pt>
                <c:pt idx="3">
                  <c:v>Revision count</c:v>
                </c:pt>
                <c:pt idx="4">
                  <c:v>Change volume</c:v>
                </c:pt>
                <c:pt idx="5">
                  <c:v>Contributors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276</c:v>
                </c:pt>
                <c:pt idx="1">
                  <c:v>266</c:v>
                </c:pt>
                <c:pt idx="2">
                  <c:v>261</c:v>
                </c:pt>
                <c:pt idx="3">
                  <c:v>234</c:v>
                </c:pt>
                <c:pt idx="4">
                  <c:v>229</c:v>
                </c:pt>
                <c:pt idx="5">
                  <c:v>222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2B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Arial"/>
                <a:ea typeface="Arial"/>
                <a:cs typeface="Arial"/>
              </a:rPr>
              <a:t>Defects per KLOC by Calcite version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Defects per KLOC</c:v>
          </c:tx>
          <c:spPr>
            <a:ln xmlns:a="http://schemas.openxmlformats.org/drawingml/2006/main" w="28575">
              <a:solidFill>
                <a:srgbClr val="1F6F78"/>
              </a:solidFill>
              <a:prstDash val="solid"/>
            </a:ln>
          </c:spPr>
          <c:marker>
            <c:symbol val="circle"/>
            <c:size val="6"/>
          </c:marker>
          <c:cat>
            <c:strRef>
              <c:f>'Chart Data'!$A$2:$A$17</c:f>
              <c:strCache>
                <c:ptCount val="16"/>
                <c:pt idx="0">
                  <c:v>1.0.0</c:v>
                </c:pt>
                <c:pt idx="1">
                  <c:v>1.1.0</c:v>
                </c:pt>
                <c:pt idx="2">
                  <c:v>1.2.0</c:v>
                </c:pt>
                <c:pt idx="3">
                  <c:v>1.3.0</c:v>
                </c:pt>
                <c:pt idx="4">
                  <c:v>1.4.0</c:v>
                </c:pt>
                <c:pt idx="5">
                  <c:v>1.5.0</c:v>
                </c:pt>
                <c:pt idx="6">
                  <c:v>1.6.0</c:v>
                </c:pt>
                <c:pt idx="7">
                  <c:v>1.7.0</c:v>
                </c:pt>
                <c:pt idx="8">
                  <c:v>1.8.0</c:v>
                </c:pt>
                <c:pt idx="9">
                  <c:v>1.9.0</c:v>
                </c:pt>
                <c:pt idx="10">
                  <c:v>1.10.0</c:v>
                </c:pt>
                <c:pt idx="11">
                  <c:v>1.11.0</c:v>
                </c:pt>
                <c:pt idx="12">
                  <c:v>1.12.0</c:v>
                </c:pt>
                <c:pt idx="13">
                  <c:v>1.13.0</c:v>
                </c:pt>
                <c:pt idx="14">
                  <c:v>1.14.0</c:v>
                </c:pt>
                <c:pt idx="15">
                  <c:v>1.15.0</c:v>
                </c:pt>
              </c:strCache>
            </c:strRef>
          </c:cat>
          <c:val>
            <c:numRef>
              <c:f>'Chart Data'!$B$2:$B$17</c:f>
              <c:numCache>
                <c:formatCode>0.0</c:formatCode>
                <c:ptCount val="16"/>
                <c:pt idx="0">
                  <c:v>1.004</c:v>
                </c:pt>
                <c:pt idx="1">
                  <c:v>0.636</c:v>
                </c:pt>
                <c:pt idx="2">
                  <c:v>0.712</c:v>
                </c:pt>
                <c:pt idx="3">
                  <c:v>0.626</c:v>
                </c:pt>
                <c:pt idx="4">
                  <c:v>0.646</c:v>
                </c:pt>
                <c:pt idx="5">
                  <c:v>0.462</c:v>
                </c:pt>
                <c:pt idx="6">
                  <c:v>0.473</c:v>
                </c:pt>
                <c:pt idx="7">
                  <c:v>0.578</c:v>
                </c:pt>
                <c:pt idx="8">
                  <c:v>0.451</c:v>
                </c:pt>
                <c:pt idx="9">
                  <c:v>0.44</c:v>
                </c:pt>
                <c:pt idx="10">
                  <c:v>0.399</c:v>
                </c:pt>
                <c:pt idx="11">
                  <c:v>0.369</c:v>
                </c:pt>
                <c:pt idx="12">
                  <c:v>0.3</c:v>
                </c:pt>
                <c:pt idx="13">
                  <c:v>0.263</c:v>
                </c:pt>
                <c:pt idx="14">
                  <c:v>0.241</c:v>
                </c:pt>
                <c:pt idx="15">
                  <c:v>0.196</c:v>
                </c:pt>
              </c:numCache>
            </c:numRef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D929B-5093-4114-B2EE-5A7AF90B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1EA88BD5-CF78-4D40-A688-BF1C8F93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F6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6F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6F78"/>
                </a:solidFill>
                <a:latin typeface="Arial"/>
                <a:ea typeface="Arial"/>
                <a:cs typeface="Arial"/>
              </a:rPr>
              <a:t>SOFTWARE QUALITY INSIGHT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51C66C-038C-4BA7-8F0D-28835838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Which software metrics are associated with modules having more defects?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26E31-E5A0-4700-93C9-C66DD2EC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Apache Calcite | 16 releases | 19,751 module-release records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C925D-7A8B-44DD-ABB7-68BEE183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7715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The data shows modest positive associations for complexity, coupling, code-change activity, revisions, contributors, and file size. These are descriptive relationships, not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E99F4-8EE6-4ADA-A52C-AAE089BF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7572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Recommended focus: repeatedly defect-linked SQL conversion, validation, and enumerable adapter files.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8207B-7D6E-43EB-BE89-25AC2CB1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Use Case 28 • Public-data fallback • Findings should be replaced if the instructor CSVs are supplied</a:t>
            </a:r>
          </a:p>
        </p:txBody>
      </p:sp>
    </p:spTree>
    <p:extLst>
      <p:ext uri="{BB962C8B-B14F-4D97-AF65-F5344CB8AC3E}">
        <p14:creationId xmlns:p14="http://schemas.microsoft.com/office/powerpoint/2010/main" val="11065791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3308F0-BDDF-4E28-AF1A-712F21E7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Dataset and fit to the assignment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7274B72-D5D9-436F-90BE-FB76EDB9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One source file in one release is the analysis unit.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7D613-924D-4CA5-A35B-2175F0A6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6E5CE-4D56-471D-9735-E3ADA341822F}"/>
              </a:ext>
            </a:extLst>
          </p:cNvPr>
          <p:cNvGraphicFramePr/>
          <p:nvPr/>
        </p:nvGraphicFramePr>
        <p:xfrm>
          <a:off xmlns:a="http://schemas.openxmlformats.org/drawingml/2006/main" x="666750" y="1695450"/>
          <a:ext xmlns:a="http://schemas.openxmlformats.org/drawingml/2006/main" cx="10839450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762500"/>
                <a:gridCol w="3600450"/>
              </a:tblGrid>
              <a:tr h="381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Assignment need</a:t>
                      </a:r>
                    </a:p>
                  </a:txBody>
                  <a:tcPr marL="76200" marR="76200" marT="66675" marB="66675"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Selected field or proxy</a:t>
                      </a:r>
                    </a:p>
                  </a:txBody>
                  <a:tcPr marL="76200" marR="76200" marT="66675" marB="66675"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Assessment fit</a:t>
                      </a:r>
                    </a:p>
                  </a:txBody>
                  <a:tcPr marL="76200" marR="76200" marT="66675" marB="66675">
                    <a:solidFill>
                      <a:srgbClr val="1F6F7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Module, component, size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Java file path; package-derived component; file LOC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Good, with file as module proxy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Complexity and coupling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WMC complexity; CBO coupling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Available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Defect count and severity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BUGFIX_count; issue severity linked by file and release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Available; counts reconcile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Changed lines, revisions, contributors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Added + deleted lines proxy; revisions; distinct authors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Available as process proxies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Test coverage and release date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Not present in selected data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Unavailable; not imputed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9C476-35DA-48F8-BB00-8B23C612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Scope: 1,644 distinct Java files across 16 Calcite versions (1.0.0–1.15.0). The exact five instructor CSVs were not attached with the brief.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2D5BD-60CE-4A25-848B-A3F9C58F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245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Change-volume proxy = summed lines added + summed lines deleted. MOSER code churn is signed net change, so negative values are valid.</a:t>
            </a:r>
          </a:p>
        </p:txBody>
      </p:sp>
    </p:spTree>
    <p:extLst>
      <p:ext uri="{BB962C8B-B14F-4D97-AF65-F5344CB8AC3E}">
        <p14:creationId xmlns:p14="http://schemas.microsoft.com/office/powerpoint/2010/main" val="10227571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BD8B6D-A4C2-4555-8D56-1C78ECD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Defects recur in a small set of files and components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F6E3D0A-2197-43EF-AEBB-34696720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Raw counts identify recurring hotspots; size-adjusted rates remain important context.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4BC01-6E46-4E3E-BBF8-A5CE2335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292A24F-2ACB-4888-9CDB-A2451D323D0D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6191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139c2a14b442e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31D00-5BA3-469F-8CFD-7E3DCD56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097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Highest cumulative module counts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58305-7C03-48D3-9116-9423822106A6}"/>
              </a:ext>
            </a:extLst>
          </p:cNvPr>
          <p:cNvGraphicFramePr/>
          <p:nvPr/>
        </p:nvGraphicFramePr>
        <p:xfrm>
          <a:off xmlns:a="http://schemas.openxmlformats.org/drawingml/2006/main" x="7191375" y="2247900"/>
          <a:ext xmlns:a="http://schemas.openxmlformats.org/drawingml/2006/main" cx="4333875" cy="2019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57250"/>
                <a:gridCol w="1000125"/>
              </a:tblGrid>
              <a:tr h="381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Java file</a:t>
                      </a:r>
                    </a:p>
                  </a:txBody>
                  <a:tcPr marL="76200" marR="76200" marT="66675" marB="66675"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Defects</a:t>
                      </a:r>
                    </a:p>
                  </a:txBody>
                  <a:tcPr marL="76200" marR="76200" marT="66675" marB="66675"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Releases</a:t>
                      </a:r>
                    </a:p>
                  </a:txBody>
                  <a:tcPr marL="76200" marR="76200" marT="66675" marB="66675">
                    <a:solidFill>
                      <a:srgbClr val="1F6F7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SqlToRelConverter.java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86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16 / 16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RexImpTable.java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68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16 / 16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SqlValidatorImpl.java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66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16 / 16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039E9-B475-4F41-B597-FFA73BF5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4342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sql: 571 defects  |  rel: 465  |  adapter: 373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95828-2D7D-4670-9806-6878F0E7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91100"/>
            <a:ext cx="42386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Module candidates: SqlToRelConverter.java (86), RexImpTable.java (68), and SqlValidatorImpl.java (66). Each has defects linked across all 16 releases.</a:t>
            </a:r>
          </a:p>
        </p:txBody>
      </p:sp>
    </p:spTree>
    <p:extLst>
      <p:ext uri="{BB962C8B-B14F-4D97-AF65-F5344CB8AC3E}">
        <p14:creationId xmlns:p14="http://schemas.microsoft.com/office/powerpoint/2010/main" val="3214407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BD6822-4A2A-4C42-AA5A-6E9B9DA0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Higher metric values tend to co-occur with more defects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0DF77A9-A632-4AD9-A922-6EFFDBE5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Spearman rho across 19,751 module-release rows; exploratory and unadjusted.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40E22-5C1B-4E7C-93E1-F99EBC45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E4F9471-5347-4DB7-AABE-5DCECE4FB0BF}"/>
              </a:ext>
            </a:extLst>
          </p:cNvPr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6858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562f59d6804be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A416F-793C-4EF6-B399-379A4985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288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Largest relationships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5B3DB-3AD1-4779-8446-A01F08E1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File size  0.276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CBO coupling  0.266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WMC complexity  0.261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4C40E-1751-4081-8836-5F02F066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57600"/>
            <a:ext cx="328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Change volume  0.229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Revision count  0.234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Contributor count  0.222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4A655-4642-4C96-9356-1D1272A5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81575"/>
            <a:ext cx="3314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Interpretation: associations are modest. Larger or more active files can accumulate more defects, and repeated files across releases are not independent observations.</a:t>
            </a:r>
          </a:p>
        </p:txBody>
      </p:sp>
    </p:spTree>
    <p:extLst>
      <p:ext uri="{BB962C8B-B14F-4D97-AF65-F5344CB8AC3E}">
        <p14:creationId xmlns:p14="http://schemas.microsoft.com/office/powerpoint/2010/main" val="1038103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61D65D-C5C6-4D99-96C7-A82981A0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Defects per KLOC declined across the selected release sequence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97DAE05-D89A-41D4-AE89-88749B5B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This is descriptive: release dates and stable release-level exposure are unavailable.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1594B-A913-40BD-8400-6ACDAF3A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7B2F80C-F720-4D9E-9C69-B902C6C27478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7715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404290f0884a0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8C48F-B1FE-4FEF-A4E4-CB64C6A3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669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1.004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64296-07C9-4383-AE4F-D49B4621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194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defects per KLOC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release 1.0.0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C2153-909D-4F00-BF2F-7F98114E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F6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1F6F7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6F78"/>
                </a:solidFill>
                <a:latin typeface="Arial"/>
                <a:ea typeface="Arial"/>
                <a:cs typeface="Arial"/>
              </a:rPr>
              <a:t>0.196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CE545-5025-44AA-A127-405E378B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672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defects per KLOC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release 1.15.0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CC197-3730-4A0E-8768-411A910E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10150"/>
            <a:ext cx="2514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The denominator is summed file LOC in each release. Do not interpret this as a causal improvement or a calendar-time trend.</a:t>
            </a:r>
          </a:p>
        </p:txBody>
      </p:sp>
    </p:spTree>
    <p:extLst>
      <p:ext uri="{BB962C8B-B14F-4D97-AF65-F5344CB8AC3E}">
        <p14:creationId xmlns:p14="http://schemas.microsoft.com/office/powerpoint/2010/main" val="20121617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0DA952-124E-42F8-8F37-07088E9D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Prioritize repeat hotspots, then improve the evidence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353B4BD-9CEC-4F61-B911-783CCB55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Use the findings to guide review and regression testing, not to assign blame.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81EAE-7F0E-4889-9CEF-8B7DD798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25AC4-F43E-4DB3-91F3-D952CFDF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F6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F6F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6F7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F9899-A4F9-4D8E-AC7B-3F30B997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621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Target recurring files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CC5D8-0B1F-488A-BCEB-8FAB8241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52650"/>
            <a:ext cx="4429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Review SqlToRelConverter, SqlValidatorImpl, and RexImpTable. Add or strengthen regression tests around SQL-to-rel conversion, validation, and enumerable execution paths.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9F321-9016-4425-AA20-AB76E7DA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51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F6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F6F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6F7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8CD67-A19B-4784-B9B7-460B7ABE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71850"/>
            <a:ext cx="442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Pair structure with change activity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824F7-C6C6-41F5-938C-C80517AD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62375"/>
            <a:ext cx="4429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WMC, CBO, file size, and change-volume signals together. Recheck the same files in current releases before setting review effort.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79B00-3553-4E97-962B-1344CB19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51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F6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F6F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6F7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57E92-07E5-4BDE-870B-DBE26FF0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00600"/>
            <a:ext cx="442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Close the data gaps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73268-6C57-4211-8C25-ECF6BACE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91125"/>
            <a:ext cx="4429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Add real test-coverage values and release dates from the course data or a traceable source. Preserve module-release keys and severity definitions.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F9230-6988-47DC-A1D9-4FBD0DB3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62125"/>
            <a:ext cx="19050" cy="412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FFB70-5B04-48CA-9EA7-26CBB31F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Limits to state in the pitch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75DD70-97C2-4100-9141-3CADDDA1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Public fallback, not the five course CSVs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No test-coverage field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No calendar release dates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Defect labels may contain collection noise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Correlations are descriptive, not causal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E25982-A6DD-455F-A57E-A172E27D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Round 1 still needs the actual quiz and score sheet; the brief lists topics but does not include quiz questions.</a:t>
            </a:r>
          </a:p>
        </p:txBody>
      </p:sp>
    </p:spTree>
    <p:extLst>
      <p:ext uri="{BB962C8B-B14F-4D97-AF65-F5344CB8AC3E}">
        <p14:creationId xmlns:p14="http://schemas.microsoft.com/office/powerpoint/2010/main" val="1780864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2026-10-13T06:58:40.5840000Z</dcterms:created>
  <dcterms:modified xsi:type="dcterms:W3CDTF">2026-10-13T06:58:40.5840000Z</dcterms:modified>
</coreProperties>
</file>